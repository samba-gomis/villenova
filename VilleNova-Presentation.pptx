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112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227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mozilla.org/fr/docs/Web/API/Fetch_API/Using_Fetch" TargetMode="External"/><Relationship Id="rId5" Type="http://schemas.openxmlformats.org/officeDocument/2006/relationships/hyperlink" Target="https://webaim.org/resources/contrastchecker/" TargetMode="External"/><Relationship Id="rId4" Type="http://schemas.openxmlformats.org/officeDocument/2006/relationships/hyperlink" Target="https://www.w3schools.com/typescript/index.ph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2743200" cy="2743200"/>
          </a:xfrm>
          <a:prstGeom prst="ellipse">
            <a:avLst/>
          </a:prstGeom>
          <a:solidFill>
            <a:srgbClr val="F5C84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931920"/>
            <a:ext cx="1554480" cy="1554480"/>
          </a:xfrm>
          <a:prstGeom prst="ellipse">
            <a:avLst/>
          </a:prstGeom>
          <a:solidFill>
            <a:srgbClr val="E8501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6035040"/>
            <a:ext cx="1005840" cy="10058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96596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VilleNova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culture de votre ville, accessible à tous.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événementielle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culturelle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Diop Gomis  —  Bachelor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developpeur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La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suis-je ?</a:t>
            </a:r>
            <a:endParaRPr lang="en-US" sz="30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3120" y="2096958"/>
            <a:ext cx="2807512" cy="2664084"/>
          </a:xfrm>
          <a:prstGeom prst="rect">
            <a:avLst/>
          </a:prstGeom>
          <a:ln>
            <a:solidFill>
              <a:schemeClr val="accent1">
                <a:alpha val="43000"/>
              </a:schemeClr>
            </a:solidFill>
          </a:ln>
          <a:effectLst>
            <a:softEdge rad="101600"/>
          </a:effectLst>
        </p:spPr>
      </p:pic>
      <p:sp>
        <p:nvSpPr>
          <p:cNvPr id="6" name="Shape 3"/>
          <p:cNvSpPr/>
          <p:nvPr/>
        </p:nvSpPr>
        <p:spPr>
          <a:xfrm>
            <a:off x="4206240" y="1691640"/>
            <a:ext cx="7406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0" y="20116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0" y="22860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Diop Gomis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0" y="2852928"/>
            <a:ext cx="6675120" cy="0"/>
          </a:xfrm>
          <a:prstGeom prst="line">
            <a:avLst/>
          </a:prstGeom>
          <a:noFill/>
          <a:ln w="9525">
            <a:solidFill>
              <a:srgbClr val="D1CE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28986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0" y="31729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1 </a:t>
            </a:r>
            <a:r>
              <a:rPr lang="en-US" sz="16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developpeur</a:t>
            </a: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0" y="3739896"/>
            <a:ext cx="6675120" cy="0"/>
          </a:xfrm>
          <a:prstGeom prst="line">
            <a:avLst/>
          </a:prstGeom>
          <a:noFill/>
          <a:ln w="9525">
            <a:solidFill>
              <a:srgbClr val="D1CE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37856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DANS LE PROJET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4059936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</a:t>
            </a: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tout seul (</a:t>
            </a:r>
            <a:r>
              <a:rPr lang="en-US" sz="16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0" y="4626864"/>
            <a:ext cx="6675120" cy="0"/>
          </a:xfrm>
          <a:prstGeom prst="line">
            <a:avLst/>
          </a:prstGeom>
          <a:noFill/>
          <a:ln w="9525">
            <a:solidFill>
              <a:srgbClr val="D1CE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46725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0" y="4946904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LinkedIn : </a:t>
            </a:r>
            <a:r>
              <a:rPr lang="nn-NO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Diop Gomis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VilleNova, en une phrase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web qui centralise tous les évènements culturels de la </a:t>
            </a:r>
            <a:r>
              <a:rPr lang="en-US" sz="16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</a:t>
            </a: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concerts; expositions; spectacles; ateliers; </a:t>
            </a:r>
            <a:r>
              <a:rPr lang="en-US" sz="16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cinéma</a:t>
            </a: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et les rend accessibles à tous, gratuits ou payants, en quelques clics.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72869" y="2880360"/>
            <a:ext cx="1005840" cy="100584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7" name="Image 0" descr="/home/claude/villenova-deck/icons/theaterm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804" y="3041294"/>
            <a:ext cx="683971" cy="6839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0690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Accessibilité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évènements réunis au même endroit, filtrables par catégorie, date et lieu.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8698" y="24688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92928" y="2880360"/>
            <a:ext cx="1005840" cy="1005840"/>
          </a:xfrm>
          <a:prstGeom prst="ellipse">
            <a:avLst/>
          </a:prstGeom>
          <a:solidFill>
            <a:srgbClr val="E8501A"/>
          </a:solidFill>
          <a:ln/>
        </p:spPr>
      </p:sp>
      <p:pic>
        <p:nvPicPr>
          <p:cNvPr id="12" name="Image 1" descr="/home/claude/villenova-deck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862" y="3041294"/>
            <a:ext cx="683971" cy="6839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7298" y="40690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Modernité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43018" y="45262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fluide et responsive, recherche en temps réel, connectée à l'API OpenAgenda.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8757" y="24688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2986" y="2880360"/>
            <a:ext cx="1005840" cy="10058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7" name="Image 2" descr="/home/claude/villenova-deck/icons/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3920" y="3041294"/>
            <a:ext cx="683971" cy="68397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7357" y="40690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Éco-responsabilité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63077" y="45262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légères, images optimisées : un numérique plus sobre.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projet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claire : pages HTML / scripts JS / styles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</a:t>
            </a:r>
            <a:r>
              <a:rPr lang="en-US" sz="15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modulaire</a:t>
            </a:r>
            <a:r>
              <a:rPr lang="en-US" sz="15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fichier, une responsabilité : utils, nav, filter, card, api, favorites, detail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SCSS organisé en partials (variables, mixins, composants) assemblés via @use</a:t>
            </a:r>
            <a:endParaRPr lang="en-US" sz="15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image source (VilleNova.webp), réutilisée sur toutes les pages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60915" y="1389888"/>
            <a:ext cx="4206050" cy="5084064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pic>
        <p:nvPicPr>
          <p:cNvPr id="6" name="Image 0" descr="/home/claude/villenova-deck/images/Screenshot_2026-06-21_132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507" y="1554480"/>
            <a:ext cx="3876866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 utilisés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6" name="Image 0" descr="/home/claude/villenova-dec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907438"/>
            <a:ext cx="528523" cy="528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99008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de code principal du projet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38218" y="150876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2538" y="1783080"/>
            <a:ext cx="777240" cy="77724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11" name="Image 1" descr="/home/claude/villenova-deck/icons/nodej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897" y="1907438"/>
            <a:ext cx="528523" cy="528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2538" y="2651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Node.js, Express &amp; npm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2538" y="299008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proxy local pour contourner le CORS de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l’API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(Source des données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événementielles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27797" y="150876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2117" y="1783080"/>
            <a:ext cx="777240" cy="77724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16" name="Image 2" descr="/home/claude/villenova-deck/icons/s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475" y="1907438"/>
            <a:ext cx="528523" cy="5285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2117" y="2651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Sass / SCSS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02117" y="299008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Préprocesseur CSS, compilation organisée en partials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23360"/>
            <a:ext cx="777240" cy="77724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21" name="Image 3" descr="/home/claude/villenova-deck/icons/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4147718"/>
            <a:ext cx="528523" cy="52852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920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523036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et collaboration en Live Share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38218" y="374904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2538" y="4023360"/>
            <a:ext cx="777240" cy="77724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26" name="Imag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36896" y="4172038"/>
            <a:ext cx="528523" cy="4593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2538" y="48920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</a:rPr>
              <a:t>Hyper Text Markup Language 5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2538" y="523036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fr-FR" sz="1100" dirty="0"/>
              <a:t>Rendre le web plus riche,</a:t>
            </a:r>
            <a:r>
              <a:rPr lang="fr-FR" sz="1100" b="1" dirty="0"/>
              <a:t> </a:t>
            </a:r>
            <a:r>
              <a:rPr lang="fr-FR" sz="1100" dirty="0"/>
              <a:t>plus rapide et</a:t>
            </a:r>
            <a:r>
              <a:rPr lang="fr-FR" sz="1100" b="1" dirty="0"/>
              <a:t> </a:t>
            </a:r>
            <a:r>
              <a:rPr lang="fr-FR" sz="1100" dirty="0"/>
              <a:t>indé</a:t>
            </a:r>
            <a:r>
              <a:rPr lang="en-US" sz="1100" dirty="0"/>
              <a:t>pendant</a:t>
            </a:r>
            <a:r>
              <a:rPr lang="fr-FR" sz="1100" dirty="0"/>
              <a:t> de logiciels tiers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27797" y="374904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02117" y="4023360"/>
            <a:ext cx="777240" cy="77724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31" name="Image 5" descr="/home/claude/villenova-deck/icons/figm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6475" y="4147718"/>
            <a:ext cx="528523" cy="52852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02117" y="48920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Figma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02117" y="523036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et maquettes haute-fidélité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&amp; DOCUMENTATION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utilisées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457200" cy="457200"/>
          </a:xfrm>
          <a:prstGeom prst="ellipse">
            <a:avLst/>
          </a:prstGeom>
          <a:solidFill>
            <a:srgbClr val="E8501A"/>
          </a:solidFill>
          <a:ln/>
        </p:spPr>
      </p:sp>
      <p:pic>
        <p:nvPicPr>
          <p:cNvPr id="5" name="Image 0" descr="/home/claude/villenova-deck/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9164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721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 Index   </a:t>
            </a:r>
            <a:r>
              <a:rPr lang="en-US" sz="1150" u="sng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https://www.ecoindex.fr/resultat/?id=7088399b-bd1d-4e66-b84a-f86210159076#score-details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828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l’éco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-conception et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l’impact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environnemental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son site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276856"/>
            <a:ext cx="11094415" cy="0"/>
          </a:xfrm>
          <a:prstGeom prst="line">
            <a:avLst/>
          </a:prstGeom>
          <a:noFill/>
          <a:ln w="9525">
            <a:solidFill>
              <a:srgbClr val="D1CE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496312"/>
            <a:ext cx="457200" cy="457200"/>
          </a:xfrm>
          <a:prstGeom prst="ellipse">
            <a:avLst/>
          </a:prstGeom>
          <a:solidFill>
            <a:srgbClr val="E8501A"/>
          </a:solidFill>
          <a:ln/>
        </p:spPr>
      </p:sp>
      <p:pic>
        <p:nvPicPr>
          <p:cNvPr id="10" name="Image 1" descr="/home/claude/villenova-deck/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946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3500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Kastor</a:t>
            </a:r>
            <a:r>
              <a:rPr lang="en-US" sz="15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Green   </a:t>
            </a:r>
            <a:r>
              <a:rPr lang="en-US" sz="1150" u="sng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https://kastor.green/simple-audit-result/db116eaf-c82f-419d-331f-08decfa9817c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34440" y="27066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r>
              <a:rPr lang="fr-FR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rapport au RGESN (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d’eco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-conception de services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numeriques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154680"/>
            <a:ext cx="11094415" cy="0"/>
          </a:xfrm>
          <a:prstGeom prst="line">
            <a:avLst/>
          </a:prstGeom>
          <a:noFill/>
          <a:ln w="9525">
            <a:solidFill>
              <a:srgbClr val="D1CEC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E8501A"/>
          </a:solidFill>
          <a:ln/>
        </p:spPr>
      </p:sp>
      <p:pic>
        <p:nvPicPr>
          <p:cNvPr id="15" name="Image 2" descr="/home/claude/villenova-deck/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4728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227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W3Schools — TypeScript   </a:t>
            </a:r>
            <a:r>
              <a:rPr lang="en-US" sz="1150" u="sng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https://www.w3schools.com/typescript/index.php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34440" y="35844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du typage pour structurer le JavaScript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032504"/>
            <a:ext cx="11094415" cy="0"/>
          </a:xfrm>
          <a:prstGeom prst="line">
            <a:avLst/>
          </a:prstGeom>
          <a:noFill/>
          <a:ln w="9525">
            <a:solidFill>
              <a:srgbClr val="D1CEC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E8501A"/>
          </a:solidFill>
          <a:ln/>
        </p:spPr>
      </p:sp>
      <p:pic>
        <p:nvPicPr>
          <p:cNvPr id="20" name="Image 3" descr="/home/claude/villenova-deck/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32511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41056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WebAIM — Contrast Checker   </a:t>
            </a:r>
            <a:r>
              <a:rPr lang="en-US" sz="1150" u="sng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https://webaim.org/resources/contrastchecker/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234440" y="44622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contrastes de couleurs (accessibilité WCAG)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4910328"/>
            <a:ext cx="11094415" cy="0"/>
          </a:xfrm>
          <a:prstGeom prst="line">
            <a:avLst/>
          </a:prstGeom>
          <a:noFill/>
          <a:ln w="9525">
            <a:solidFill>
              <a:srgbClr val="D1CEC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129784"/>
            <a:ext cx="457200" cy="457200"/>
          </a:xfrm>
          <a:prstGeom prst="ellipse">
            <a:avLst/>
          </a:prstGeom>
          <a:solidFill>
            <a:srgbClr val="E8501A"/>
          </a:solidFill>
          <a:ln/>
        </p:spPr>
      </p:sp>
      <p:pic>
        <p:nvPicPr>
          <p:cNvPr id="25" name="Image 4" descr="/home/claude/villenova-deck/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202936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4983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MDN — Fetch API   </a:t>
            </a:r>
            <a:r>
              <a:rPr lang="en-US" sz="1150" u="sng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https://developer.mozilla.org/fr/docs/Web/API/Fetch_API/Using_Fetch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234440" y="53400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référence pour les appels à l'API OpenAgenda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L'API OpenAgenda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agenda est identifié par un AGENDA_ID et interrogé avec une clé d'API (key)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: GET /v2/agendas/{AGENDA_ID}/events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utilisés : limit, offset, detailed=1, search, timings[gte] / [lte]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JSON sert à construire dynamiquement les cartes évènements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0" y="1554480"/>
            <a:ext cx="5696712" cy="4297680"/>
          </a:xfrm>
          <a:prstGeom prst="roundRect">
            <a:avLst>
              <a:gd name="adj" fmla="val 1702"/>
            </a:avLst>
          </a:prstGeom>
          <a:solidFill>
            <a:srgbClr val="13212F"/>
          </a:solidFill>
          <a:ln/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99632" y="1755648"/>
            <a:ext cx="5184648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loadEvents(off) 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url =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`https://api.openagenda.com/v2/agendas/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${AGENDA_ID}/events?key=${API_KEY}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&amp;limit=${LIMIT}&amp;offset=${off}&amp;detailed=1`;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 = await fetch(url);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data.total || 0;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(data.events || []).forEach(ev =&gt;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grid.appendChild(createCard(ev))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head HTML &amp; les Google Fonts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preconnect (fonts.googleapis.com / fonts.gstatic.com) pour accélérer le chargement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requête Google Fonts charge 2 familles : Syne (700/800, titres) et DM Sans (400/500, texte)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Favicon au format .webp, léger et moderne</a:t>
            </a:r>
            <a:endParaRPr lang="en-US" sz="145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feuille de styles partagée (style.css) + une feuille spécifique par page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0" y="1554480"/>
            <a:ext cx="5696712" cy="4297680"/>
          </a:xfrm>
          <a:prstGeom prst="roundRect">
            <a:avLst>
              <a:gd name="adj" fmla="val 1702"/>
            </a:avLst>
          </a:prstGeom>
          <a:solidFill>
            <a:srgbClr val="13212F"/>
          </a:solidFill>
          <a:ln/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99632" y="1755648"/>
            <a:ext cx="5184648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rel="preconnect"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href="https://fonts.googleapis.com"&gt;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rel="preconnect"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href="https://fonts.gstatic.com" crossorigin&gt;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href="https://fonts.googleapis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.com/css2?family=Syne:wght@700;800&amp;family=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DM+Sans:wght@400;500&amp;display=swap"&gt;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rel="icon" type="image/webp"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href="../images/VilleNova.webp"&gt;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href="../styles/style.css"&gt;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PRÉPROCESSEUR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Sass, en bref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68680" cy="86868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5" name="Image 0" descr="/home/claude/villenova-deck/icons/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9" y="183062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78892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Sass = préprocesseur CSS : on écrit du .scss, compilé ensuite en .css standard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($primary, $font-title…), imbrication des sélecteurs, mixins réutilisables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surveillée en direct ("Watch Sass") pendant le développement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264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SCSS (source)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1828800"/>
            <a:ext cx="5513832" cy="2057400"/>
          </a:xfrm>
          <a:prstGeom prst="roundRect">
            <a:avLst>
              <a:gd name="adj" fmla="val 3556"/>
            </a:avLst>
          </a:prstGeom>
          <a:solidFill>
            <a:srgbClr val="13212F"/>
          </a:solidFill>
          <a:ln/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82512" y="2029968"/>
            <a:ext cx="5001768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@mixin btn($bg)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$bg;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5px;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&amp;:hover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background: darken($bg, 8%);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(compilé)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4343400"/>
            <a:ext cx="5513832" cy="1371600"/>
          </a:xfrm>
          <a:prstGeom prst="roundRect">
            <a:avLst>
              <a:gd name="adj" fmla="val 5333"/>
            </a:avLst>
          </a:prstGeom>
          <a:solidFill>
            <a:srgbClr val="13212F"/>
          </a:solidFill>
          <a:ln/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82512" y="4544568"/>
            <a:ext cx="50017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 background: #1A3A5C;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5px; 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#15314D; }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PRÉPROCESSEUR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SCSS — organisation en partials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partials, un composant par fichier 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_variables.scss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_mixins.scss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_base.scss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_nav.scss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_hero.scss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_filters.scss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_cards.scss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_newsletter.scss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_footer.scss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_detail.scss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_about.scss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513832" cy="2286000"/>
          </a:xfrm>
          <a:prstGeom prst="roundRect">
            <a:avLst>
              <a:gd name="adj" fmla="val 3200"/>
            </a:avLst>
          </a:prstGeom>
          <a:solidFill>
            <a:srgbClr val="13212F"/>
          </a:solidFill>
          <a:ln/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82512" y="1755648"/>
            <a:ext cx="500176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style.scss — point d'entrée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@use 'base';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@use 'nav';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@use 'hero';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@use 'filters';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@use 'cards';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@use 'newsletter';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@use 'footer';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4023360"/>
            <a:ext cx="5513832" cy="1920240"/>
          </a:xfrm>
          <a:prstGeom prst="roundRect">
            <a:avLst>
              <a:gd name="adj" fmla="val 3810"/>
            </a:avLst>
          </a:prstGeom>
          <a:solidFill>
            <a:srgbClr val="13212F"/>
          </a:solidFill>
          <a:ln/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2512" y="4224528"/>
            <a:ext cx="50017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_variables.scss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$primary:   #1A3A5C;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$secondary: #E8501A;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$accent:    #F5C842;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$font-title: 'Syne', sans-serif;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$font-body:  'DM Sans', sans-serif;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41004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pic>
        <p:nvPicPr>
          <p:cNvPr id="7" name="Image 1" descr="/home/claude/villenova-deck/images/Screenshot_2026-05-08_0006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295" y="1490472"/>
            <a:ext cx="3016738" cy="1051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2587752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d'affichage : le texte alternatif de l'image se superposait au titre de la carte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233008" y="1325880"/>
            <a:ext cx="541004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pic>
        <p:nvPicPr>
          <p:cNvPr id="10" name="Image 2" descr="/home/claude/villenova-deck/images/Screenshot_2026-05-08_0029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388" y="1490472"/>
            <a:ext cx="4547286" cy="1051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4176" y="2587752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blocage : erreur CORS lors de l'appel direct à l'API OpenAgenda depuis le navigateur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48640" y="3520440"/>
            <a:ext cx="541004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pic>
        <p:nvPicPr>
          <p:cNvPr id="13" name="Image 3" descr="/home/claude/villenova-deck/images/Screenshot_2026-05-11_1323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7616" y="3685032"/>
            <a:ext cx="2052095" cy="10515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4782312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mise en place d'un petit serveur proxy Node.js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233008" y="3520440"/>
            <a:ext cx="541004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pic>
        <p:nvPicPr>
          <p:cNvPr id="16" name="Image 4" descr="/home/claude/villenova-deck/images/Screenshot_2026-06-10_0044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677" y="3685032"/>
            <a:ext cx="3848710" cy="10515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34176" y="4782312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composant encore non stylé : visuel non chargé et palette à retravailler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L'évolution du site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0749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pic>
        <p:nvPicPr>
          <p:cNvPr id="7" name="Image 1" descr="/home/claude/villenova-deck/images/Screenshot_2026-04-30_2356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69" y="1581912"/>
            <a:ext cx="4331661" cy="3474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4406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Avril 2026 — première version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574243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HTML posée, mise en forme encore minimale (styles par défaut du navigateur)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537960" y="1417320"/>
            <a:ext cx="50749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pic>
        <p:nvPicPr>
          <p:cNvPr id="11" name="Image 2" descr="/home/claude/villenova-deck/images/Screenshot_2026-05-04_0018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705" y="1581912"/>
            <a:ext cx="4001431" cy="3474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37960" y="54406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 2026 — version retravaillée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537960" y="574243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et navigation stylés, recherche et filtres repensés, premières couleurs de la charte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824728" y="2930652"/>
            <a:ext cx="585216" cy="585216"/>
          </a:xfrm>
          <a:prstGeom prst="ellipse">
            <a:avLst/>
          </a:prstGeom>
          <a:solidFill>
            <a:srgbClr val="E8501A"/>
          </a:solidFill>
          <a:ln/>
        </p:spPr>
      </p:sp>
      <p:pic>
        <p:nvPicPr>
          <p:cNvPr id="15" name="Image 3" descr="/home/claude/villenova-deck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363" y="3024287"/>
            <a:ext cx="397947" cy="3979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5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ACTUEL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site aujourd'hui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502920" cy="50292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5" name="Image 0" descr="/home/claude/villenova-deck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6107" y="583387"/>
            <a:ext cx="341986" cy="341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53035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: recherche, filtres par catégorie, grille connectée à l'API OpenAgenda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 : sauvegardés en local (localStorage), gérables depuis « Mes favoris »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détail : dates, lieu, public, tarif pour chaque évènement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À propos : mission et engagements (accessibilité, modernité, éco-responsabilité)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graphique stabilisée — Syne / DM Sans, navy · orange · jaune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responsive (menu burger) et accessibilité soignée (skip-link, aria-*)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0" y="1417320"/>
            <a:ext cx="50749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9525">
            <a:solidFill>
              <a:srgbClr val="D1CEC6"/>
            </a:solidFill>
            <a:prstDash val="solid"/>
          </a:ln>
          <a:effectLst>
            <a:outerShdw blurRad="127000" dist="38100" dir="5400000" algn="bl" rotWithShape="0">
              <a:srgbClr val="0A1622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84848" y="1655064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9" name="Shape 6"/>
          <p:cNvSpPr/>
          <p:nvPr/>
        </p:nvSpPr>
        <p:spPr>
          <a:xfrm>
            <a:off x="6986016" y="1655064"/>
            <a:ext cx="109728" cy="109728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0" name="Shape 7"/>
          <p:cNvSpPr/>
          <p:nvPr/>
        </p:nvSpPr>
        <p:spPr>
          <a:xfrm>
            <a:off x="7187184" y="16550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6784848" y="1911096"/>
            <a:ext cx="4672584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Shape 9"/>
          <p:cNvSpPr/>
          <p:nvPr/>
        </p:nvSpPr>
        <p:spPr>
          <a:xfrm>
            <a:off x="6922008" y="2020824"/>
            <a:ext cx="777240" cy="146304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784848" y="2276856"/>
            <a:ext cx="4672584" cy="1417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Shape 11"/>
          <p:cNvSpPr/>
          <p:nvPr/>
        </p:nvSpPr>
        <p:spPr>
          <a:xfrm>
            <a:off x="7013448" y="2532888"/>
            <a:ext cx="4215384" cy="201168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013448" y="2807208"/>
            <a:ext cx="2529230" cy="146304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013448" y="3118104"/>
            <a:ext cx="421538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7013448" y="3520440"/>
            <a:ext cx="457200" cy="10972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8" name="Shape 15"/>
          <p:cNvSpPr/>
          <p:nvPr/>
        </p:nvSpPr>
        <p:spPr>
          <a:xfrm>
            <a:off x="7607808" y="3520440"/>
            <a:ext cx="457200" cy="10972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9" name="Shape 16"/>
          <p:cNvSpPr/>
          <p:nvPr/>
        </p:nvSpPr>
        <p:spPr>
          <a:xfrm>
            <a:off x="6784848" y="3694176"/>
            <a:ext cx="46725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CEC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22008" y="378561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 w="6350">
            <a:solidFill>
              <a:srgbClr val="D1CEC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99248" y="378561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7F5F0"/>
          </a:solidFill>
          <a:ln w="6350">
            <a:solidFill>
              <a:srgbClr val="D1CEC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76488" y="378561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7F5F0"/>
          </a:solidFill>
          <a:ln w="6350">
            <a:solidFill>
              <a:srgbClr val="D1CEC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53728" y="378561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7F5F0"/>
          </a:solidFill>
          <a:ln w="6350">
            <a:solidFill>
              <a:srgbClr val="D1CEC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84848" y="4078224"/>
            <a:ext cx="4672584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6922008" y="4187952"/>
            <a:ext cx="1380744" cy="1197864"/>
          </a:xfrm>
          <a:prstGeom prst="roundRect">
            <a:avLst>
              <a:gd name="adj" fmla="val 3053"/>
            </a:avLst>
          </a:prstGeom>
          <a:solidFill>
            <a:srgbClr val="F7F5F0"/>
          </a:solidFill>
          <a:ln w="6350">
            <a:solidFill>
              <a:srgbClr val="D1CEC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22008" y="4187952"/>
            <a:ext cx="1380744" cy="658825"/>
          </a:xfrm>
          <a:prstGeom prst="rect">
            <a:avLst/>
          </a:prstGeom>
          <a:solidFill>
            <a:srgbClr val="D1CEC6"/>
          </a:solidFill>
          <a:ln/>
        </p:spPr>
      </p:sp>
      <p:sp>
        <p:nvSpPr>
          <p:cNvPr id="27" name="Shape 24"/>
          <p:cNvSpPr/>
          <p:nvPr/>
        </p:nvSpPr>
        <p:spPr>
          <a:xfrm>
            <a:off x="8430768" y="4187952"/>
            <a:ext cx="1380744" cy="1197864"/>
          </a:xfrm>
          <a:prstGeom prst="roundRect">
            <a:avLst>
              <a:gd name="adj" fmla="val 3053"/>
            </a:avLst>
          </a:prstGeom>
          <a:solidFill>
            <a:srgbClr val="F7F5F0"/>
          </a:solidFill>
          <a:ln w="6350">
            <a:solidFill>
              <a:srgbClr val="D1CEC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30768" y="4187952"/>
            <a:ext cx="1380744" cy="658825"/>
          </a:xfrm>
          <a:prstGeom prst="rect">
            <a:avLst/>
          </a:prstGeom>
          <a:solidFill>
            <a:srgbClr val="D1CEC6"/>
          </a:solidFill>
          <a:ln/>
        </p:spPr>
      </p:sp>
      <p:sp>
        <p:nvSpPr>
          <p:cNvPr id="29" name="Shape 26"/>
          <p:cNvSpPr/>
          <p:nvPr/>
        </p:nvSpPr>
        <p:spPr>
          <a:xfrm>
            <a:off x="9939528" y="4187952"/>
            <a:ext cx="1380744" cy="1197864"/>
          </a:xfrm>
          <a:prstGeom prst="roundRect">
            <a:avLst>
              <a:gd name="adj" fmla="val 3053"/>
            </a:avLst>
          </a:prstGeom>
          <a:solidFill>
            <a:srgbClr val="F7F5F0"/>
          </a:solidFill>
          <a:ln w="6350">
            <a:solidFill>
              <a:srgbClr val="D1CEC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939528" y="4187952"/>
            <a:ext cx="1380744" cy="658825"/>
          </a:xfrm>
          <a:prstGeom prst="rect">
            <a:avLst/>
          </a:prstGeom>
          <a:solidFill>
            <a:srgbClr val="D1CEC6"/>
          </a:solidFill>
          <a:ln/>
        </p:spPr>
      </p:sp>
      <p:sp>
        <p:nvSpPr>
          <p:cNvPr id="31" name="Shape 28"/>
          <p:cNvSpPr/>
          <p:nvPr/>
        </p:nvSpPr>
        <p:spPr>
          <a:xfrm>
            <a:off x="6784848" y="5495544"/>
            <a:ext cx="4672584" cy="36576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2" name="Shape 29"/>
          <p:cNvSpPr/>
          <p:nvPr/>
        </p:nvSpPr>
        <p:spPr>
          <a:xfrm>
            <a:off x="6784848" y="5861304"/>
            <a:ext cx="4672584" cy="24688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3" name="Text 3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914400"/>
            <a:ext cx="2743200" cy="2743200"/>
          </a:xfrm>
          <a:prstGeom prst="ellipse">
            <a:avLst/>
          </a:prstGeom>
          <a:solidFill>
            <a:srgbClr val="F5C84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011680" cy="2011680"/>
          </a:xfrm>
          <a:prstGeom prst="ellipse">
            <a:avLst/>
          </a:prstGeom>
          <a:solidFill>
            <a:srgbClr val="E850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-1" y="25146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Diop Gomis  · 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samba-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gomis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1276</Words>
  <Application>Microsoft Office PowerPoint</Application>
  <PresentationFormat>Grand écran</PresentationFormat>
  <Paragraphs>185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VilleNova — Presentation de projet</dc:title>
  <dc:subject>PptxGenJS Presentation</dc:subject>
  <dc:creator>VilleNova</dc:creator>
  <cp:lastModifiedBy>Samba Diop Gomis</cp:lastModifiedBy>
  <cp:revision>4</cp:revision>
  <dcterms:created xsi:type="dcterms:W3CDTF">2026-06-21T12:33:28Z</dcterms:created>
  <dcterms:modified xsi:type="dcterms:W3CDTF">2026-06-22T23:02:39Z</dcterms:modified>
</cp:coreProperties>
</file>